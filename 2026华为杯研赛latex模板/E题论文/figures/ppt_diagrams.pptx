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548E"/>
          </a:solidFill>
          <a:ln w="12700">
            <a:solidFill>
              <a:srgbClr val="2454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复杂场景下的多模态情感识别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05D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05D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统一时间轴与可审计多模态流程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从原始媒体到预测证据：每一层都有输入、质量检查和可复核输出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DFEAF3"/>
          </a:solidFill>
          <a:ln w="16510">
            <a:solidFill>
              <a:srgbClr val="24548E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36776"/>
            <a:ext cx="384048" cy="47548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801368"/>
            <a:ext cx="228600" cy="0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892808"/>
            <a:ext cx="228600" cy="0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984248"/>
            <a:ext cx="146304" cy="0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1600200"/>
            <a:ext cx="146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746504"/>
            <a:ext cx="310896" cy="228600"/>
          </a:xfrm>
          <a:prstGeom prst="arc">
            <a:avLst/>
          </a:prstGeom>
          <a:noFill/>
          <a:ln w="15240">
            <a:solidFill>
              <a:srgbClr val="2454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1965960"/>
            <a:ext cx="0" cy="109728"/>
          </a:xfrm>
          <a:prstGeom prst="line">
            <a:avLst/>
          </a:prstGeom>
          <a:noFill/>
          <a:ln w="15240">
            <a:solidFill>
              <a:srgbClr val="2454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024" y="2075688"/>
            <a:ext cx="201168" cy="0"/>
          </a:xfrm>
          <a:prstGeom prst="line">
            <a:avLst/>
          </a:prstGeom>
          <a:noFill/>
          <a:ln w="15240">
            <a:solidFill>
              <a:srgbClr val="2454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6192" y="1709928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1938528" y="1764792"/>
            <a:ext cx="146304" cy="182880"/>
          </a:xfrm>
          <a:prstGeom prst="triangle">
            <a:avLst/>
          </a:prstGeom>
          <a:solidFill>
            <a:srgbClr val="FFFFFF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0784" y="1764792"/>
            <a:ext cx="164592" cy="164592"/>
          </a:xfrm>
          <a:prstGeom prst="ellipse">
            <a:avLst/>
          </a:prstGeom>
          <a:solidFill>
            <a:srgbClr val="DFEAF3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原始媒体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2441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· 语音 · 视频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14173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DDEFE9"/>
          </a:solidFill>
          <a:ln w="16510">
            <a:solidFill>
              <a:srgbClr val="087C70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64992" y="1947672"/>
            <a:ext cx="64008" cy="146304"/>
          </a:xfrm>
          <a:prstGeom prst="rect">
            <a:avLst/>
          </a:prstGeom>
          <a:solidFill>
            <a:srgbClr val="087C70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828800"/>
            <a:ext cx="64008" cy="265176"/>
          </a:xfrm>
          <a:prstGeom prst="rect">
            <a:avLst/>
          </a:prstGeom>
          <a:solidFill>
            <a:srgbClr val="087C70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84448" y="1700784"/>
            <a:ext cx="64008" cy="393192"/>
          </a:xfrm>
          <a:prstGeom prst="rect">
            <a:avLst/>
          </a:prstGeom>
          <a:solidFill>
            <a:srgbClr val="087C70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2112264"/>
            <a:ext cx="310896" cy="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1609344"/>
            <a:ext cx="384048" cy="47548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3048" y="1773936"/>
            <a:ext cx="228600" cy="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3048" y="1865376"/>
            <a:ext cx="228600" cy="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3048" y="1956816"/>
            <a:ext cx="146304" cy="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特征提取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62072" y="2441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 / 74 / 35维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20640" y="14173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6ECD8"/>
          </a:solidFill>
          <a:ln w="16510">
            <a:solidFill>
              <a:srgbClr val="A17022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874520"/>
            <a:ext cx="566928" cy="0"/>
          </a:xfrm>
          <a:prstGeom prst="line">
            <a:avLst/>
          </a:prstGeom>
          <a:noFill/>
          <a:ln w="20320">
            <a:solidFill>
              <a:srgbClr val="A1702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0" y="18105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170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18105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170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8105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170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18105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170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70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公共时间轴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93792" y="2441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50个等宽窗口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52360" y="14173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EAE3F3"/>
          </a:solidFill>
          <a:ln w="16510">
            <a:solidFill>
              <a:srgbClr val="69509A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955280" y="1600200"/>
            <a:ext cx="457200" cy="512064"/>
          </a:xfrm>
          <a:prstGeom prst="hexagon">
            <a:avLst/>
          </a:prstGeom>
          <a:solidFill>
            <a:srgbClr val="FFFFFF"/>
          </a:solidFill>
          <a:ln w="16510">
            <a:solidFill>
              <a:srgbClr val="6950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74152" y="1856232"/>
            <a:ext cx="91440" cy="91440"/>
          </a:xfrm>
          <a:prstGeom prst="line">
            <a:avLst/>
          </a:prstGeom>
          <a:noFill/>
          <a:ln w="22860">
            <a:solidFill>
              <a:srgbClr val="6950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1947672"/>
            <a:ext cx="155448" cy="-182880"/>
          </a:xfrm>
          <a:prstGeom prst="line">
            <a:avLst/>
          </a:prstGeom>
          <a:noFill/>
          <a:ln w="22860">
            <a:solidFill>
              <a:srgbClr val="6950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1947672"/>
            <a:ext cx="64008" cy="146304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30768" y="1828800"/>
            <a:ext cx="64008" cy="265176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0496" y="1700784"/>
            <a:ext cx="64008" cy="393192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2112264"/>
            <a:ext cx="310896" cy="0"/>
          </a:xfrm>
          <a:prstGeom prst="line">
            <a:avLst/>
          </a:prstGeom>
          <a:noFill/>
          <a:ln w="12700">
            <a:solidFill>
              <a:srgbClr val="6950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950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掩码与归一化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25512" y="2441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仅保留有效位置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784080" y="1417320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F7E6DF"/>
          </a:solidFill>
          <a:ln w="16510">
            <a:solidFill>
              <a:srgbClr val="BA5336"/>
            </a:solidFill>
            <a:prstDash val="solid"/>
          </a:ln>
          <a:effectLst>
            <a:outerShdw sx="100000" sy="100000" kx="0" ky="0" algn="bl" rotWithShape="0" blurRad="12700" dist="50800" dir="2700000">
              <a:srgbClr val="B8C2CC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241280" y="2112264"/>
            <a:ext cx="530352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2112264"/>
            <a:ext cx="0" cy="-47548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14432" y="1993392"/>
            <a:ext cx="109728" cy="-10972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24160" y="1883664"/>
            <a:ext cx="128016" cy="54864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52176" y="1938528"/>
            <a:ext cx="128016" cy="-20116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53344" y="1737360"/>
            <a:ext cx="292608" cy="-6400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45952" y="1673352"/>
            <a:ext cx="-91440" cy="33832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54512" y="2011680"/>
            <a:ext cx="-256032" cy="-54864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98480" y="1956816"/>
            <a:ext cx="54864" cy="-219456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53344" y="1737360"/>
            <a:ext cx="201168" cy="27432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16768" y="170078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09376" y="1636776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917936" y="197510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61904" y="1920240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5520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预测与证据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857232" y="244144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· 强度 · 追踪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423160" y="2194560"/>
            <a:ext cx="292608" cy="0"/>
          </a:xfrm>
          <a:prstGeom prst="line">
            <a:avLst/>
          </a:prstGeom>
          <a:noFill/>
          <a:ln w="2159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754880" y="2194560"/>
            <a:ext cx="292608" cy="0"/>
          </a:xfrm>
          <a:prstGeom prst="line">
            <a:avLst/>
          </a:prstGeom>
          <a:noFill/>
          <a:ln w="2159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086600" y="2194560"/>
            <a:ext cx="292608" cy="0"/>
          </a:xfrm>
          <a:prstGeom prst="line">
            <a:avLst/>
          </a:prstGeom>
          <a:noFill/>
          <a:ln w="2159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418320" y="2194560"/>
            <a:ext cx="292608" cy="0"/>
          </a:xfrm>
          <a:prstGeom prst="line">
            <a:avLst/>
          </a:prstGeom>
          <a:noFill/>
          <a:ln w="2159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66928" y="374904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2F5F8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7240" y="4078224"/>
            <a:ext cx="457200" cy="512064"/>
          </a:xfrm>
          <a:prstGeom prst="hexagon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6112" y="4334256"/>
            <a:ext cx="91440" cy="91440"/>
          </a:xfrm>
          <a:prstGeom prst="line">
            <a:avLst/>
          </a:prstGeom>
          <a:noFill/>
          <a:ln w="22860">
            <a:solidFill>
              <a:srgbClr val="2454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7552" y="4425696"/>
            <a:ext cx="155448" cy="-182880"/>
          </a:xfrm>
          <a:prstGeom prst="line">
            <a:avLst/>
          </a:prstGeom>
          <a:noFill/>
          <a:ln w="22860">
            <a:solidFill>
              <a:srgbClr val="24548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89888" y="39319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质量审计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389888" y="42611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覆盖率与时间单调性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窗口不交叠与掩码一致性</a:t>
            </a:r>
            <a:endParaRPr lang="en-US" sz="930" dirty="0"/>
          </a:p>
        </p:txBody>
      </p:sp>
      <p:sp>
        <p:nvSpPr>
          <p:cNvPr id="74" name="Shape 72"/>
          <p:cNvSpPr/>
          <p:nvPr/>
        </p:nvSpPr>
        <p:spPr>
          <a:xfrm>
            <a:off x="4160520" y="374904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2F5F8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443984" y="4187952"/>
            <a:ext cx="292608" cy="-64008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36592" y="4123944"/>
            <a:ext cx="-91440" cy="338328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45152" y="4462272"/>
            <a:ext cx="-256032" cy="-54864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89120" y="4407408"/>
            <a:ext cx="54864" cy="-219456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43984" y="4187952"/>
            <a:ext cx="201168" cy="27432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07408" y="4151376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00016" y="4087368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08576" y="4425696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352544" y="437083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83480" y="39319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层次融合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4983480" y="42611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三路双向时序编码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时间注意力与模态门控</a:t>
            </a:r>
            <a:endParaRPr lang="en-US" sz="930" dirty="0"/>
          </a:p>
        </p:txBody>
      </p:sp>
      <p:sp>
        <p:nvSpPr>
          <p:cNvPr id="86" name="Shape 84"/>
          <p:cNvSpPr/>
          <p:nvPr/>
        </p:nvSpPr>
        <p:spPr>
          <a:xfrm>
            <a:off x="7754112" y="3749040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2F5F8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64424" y="4581144"/>
            <a:ext cx="530352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64424" y="4581144"/>
            <a:ext cx="0" cy="-47548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037576" y="4462272"/>
            <a:ext cx="109728" cy="-10972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7304" y="4352544"/>
            <a:ext cx="128016" cy="54864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75320" y="4407408"/>
            <a:ext cx="128016" cy="-20116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77072" y="39319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解释追踪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577072" y="426110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模态消融与窗口遮挡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关键帧与证据清单</a:t>
            </a:r>
            <a:endParaRPr lang="en-US" sz="930" dirty="0"/>
          </a:p>
        </p:txBody>
      </p:sp>
      <p:sp>
        <p:nvSpPr>
          <p:cNvPr id="94" name="Shape 92"/>
          <p:cNvSpPr/>
          <p:nvPr/>
        </p:nvSpPr>
        <p:spPr>
          <a:xfrm>
            <a:off x="6080760" y="2999232"/>
            <a:ext cx="0" cy="676656"/>
          </a:xfrm>
          <a:prstGeom prst="line">
            <a:avLst/>
          </a:prstGeom>
          <a:noFill/>
          <a:ln w="1778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2331720" y="55778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质量审计贯穿预处理、预测与解释全过程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05D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层次化多模态情感预测模型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三路时序编码 → 模态内证据 → 样本级可靠性 → 双任务输出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7E6DF"/>
          </a:solidFill>
          <a:ln w="13970">
            <a:solidFill>
              <a:srgbClr val="BA53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44752"/>
            <a:ext cx="384048" cy="47548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1609344"/>
            <a:ext cx="228600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700784"/>
            <a:ext cx="228600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792224"/>
            <a:ext cx="146304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9961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72821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768维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1810512" y="1700784"/>
            <a:ext cx="429768" cy="0"/>
          </a:xfrm>
          <a:prstGeom prst="line">
            <a:avLst/>
          </a:prstGeom>
          <a:noFill/>
          <a:ln w="15240">
            <a:solidFill>
              <a:srgbClr val="BA533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67712" y="137160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BA53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572768"/>
            <a:ext cx="292608" cy="-6400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508760"/>
            <a:ext cx="-91440" cy="33832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1847088"/>
            <a:ext cx="-256032" cy="-54864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0592" y="1792224"/>
            <a:ext cx="54864" cy="-219456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1572768"/>
            <a:ext cx="201168" cy="27432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53619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1488" y="147218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0048" y="181051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14016" y="1755648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A53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1517904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双向循环编码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174650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两层掩码序列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813048" y="1700784"/>
            <a:ext cx="429768" cy="0"/>
          </a:xfrm>
          <a:prstGeom prst="line">
            <a:avLst/>
          </a:prstGeom>
          <a:noFill/>
          <a:ln w="15240">
            <a:solidFill>
              <a:srgbClr val="BA533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70248" y="137160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BA53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1682496"/>
            <a:ext cx="566928" cy="0"/>
          </a:xfrm>
          <a:prstGeom prst="line">
            <a:avLst/>
          </a:prstGeom>
          <a:noFill/>
          <a:ln w="20320">
            <a:solidFill>
              <a:srgbClr val="BA533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45152" y="16184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53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16184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53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16184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53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56632" y="16184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53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180136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时间注意力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02920" y="23317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DDEFE9"/>
          </a:solidFill>
          <a:ln w="13970">
            <a:solidFill>
              <a:srgbClr val="087C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2404872"/>
            <a:ext cx="146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087C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" y="2551176"/>
            <a:ext cx="310896" cy="228600"/>
          </a:xfrm>
          <a:prstGeom prst="arc">
            <a:avLst/>
          </a:prstGeom>
          <a:noFill/>
          <a:ln w="15240">
            <a:solidFill>
              <a:srgbClr val="087C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2770632"/>
            <a:ext cx="0" cy="109728"/>
          </a:xfrm>
          <a:prstGeom prst="line">
            <a:avLst/>
          </a:prstGeom>
          <a:noFill/>
          <a:ln w="15240">
            <a:solidFill>
              <a:srgbClr val="087C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2880360"/>
            <a:ext cx="201168" cy="0"/>
          </a:xfrm>
          <a:prstGeom prst="line">
            <a:avLst/>
          </a:prstGeom>
          <a:noFill/>
          <a:ln w="15240">
            <a:solidFill>
              <a:srgbClr val="087C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245973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88720" y="268833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74维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1810512" y="2660904"/>
            <a:ext cx="429768" cy="0"/>
          </a:xfrm>
          <a:prstGeom prst="line">
            <a:avLst/>
          </a:prstGeom>
          <a:noFill/>
          <a:ln w="15240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267712" y="233172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87C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05456" y="2532888"/>
            <a:ext cx="292608" cy="-64008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98064" y="2468880"/>
            <a:ext cx="-91440" cy="338328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06624" y="2807208"/>
            <a:ext cx="-256032" cy="-54864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50592" y="2752344"/>
            <a:ext cx="54864" cy="-219456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5456" y="2532888"/>
            <a:ext cx="201168" cy="274320"/>
          </a:xfrm>
          <a:prstGeom prst="line">
            <a:avLst/>
          </a:prstGeom>
          <a:noFill/>
          <a:ln w="12700">
            <a:solidFill>
              <a:srgbClr val="087C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249631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88" y="243230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70048" y="277063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14016" y="2715768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87C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71800" y="2478024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双向循环编码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71800" y="270662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两层掩码序列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3813048" y="2660904"/>
            <a:ext cx="429768" cy="0"/>
          </a:xfrm>
          <a:prstGeom prst="line">
            <a:avLst/>
          </a:prstGeom>
          <a:noFill/>
          <a:ln w="15240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270248" y="233172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87C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53712" y="2642616"/>
            <a:ext cx="566928" cy="0"/>
          </a:xfrm>
          <a:prstGeom prst="line">
            <a:avLst/>
          </a:prstGeom>
          <a:noFill/>
          <a:ln w="20320">
            <a:solidFill>
              <a:srgbClr val="087C7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645152" y="25786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82312" y="25786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19472" y="25786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56632" y="25786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44568" y="276148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时间注意力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502920" y="3291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DFEAF3"/>
          </a:solidFill>
          <a:ln w="13970">
            <a:solidFill>
              <a:srgbClr val="2454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7512" y="3456432"/>
            <a:ext cx="4572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1069848" y="3511296"/>
            <a:ext cx="146304" cy="182880"/>
          </a:xfrm>
          <a:prstGeom prst="triangle">
            <a:avLst/>
          </a:prstGeom>
          <a:solidFill>
            <a:srgbClr val="FFFFFF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2104" y="3511296"/>
            <a:ext cx="164592" cy="164592"/>
          </a:xfrm>
          <a:prstGeom prst="ellipse">
            <a:avLst/>
          </a:prstGeom>
          <a:solidFill>
            <a:srgbClr val="DFEAF3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88720" y="341985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188720" y="3648456"/>
            <a:ext cx="429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35维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1810512" y="3621024"/>
            <a:ext cx="429768" cy="0"/>
          </a:xfrm>
          <a:prstGeom prst="line">
            <a:avLst/>
          </a:prstGeom>
          <a:noFill/>
          <a:ln w="15240">
            <a:solidFill>
              <a:srgbClr val="24548E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267712" y="329184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454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05456" y="3493008"/>
            <a:ext cx="292608" cy="-64008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98064" y="3429000"/>
            <a:ext cx="-91440" cy="338328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06624" y="3767328"/>
            <a:ext cx="-256032" cy="-54864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50592" y="3712464"/>
            <a:ext cx="54864" cy="-219456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05456" y="3493008"/>
            <a:ext cx="201168" cy="274320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68880" y="345643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61488" y="339242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0048" y="373075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14016" y="3675888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71800" y="3438144"/>
            <a:ext cx="713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双向循环编码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971800" y="366674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两层掩码序列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3813048" y="3621024"/>
            <a:ext cx="429768" cy="0"/>
          </a:xfrm>
          <a:prstGeom prst="line">
            <a:avLst/>
          </a:prstGeom>
          <a:noFill/>
          <a:ln w="15240">
            <a:solidFill>
              <a:srgbClr val="24548E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270248" y="32918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454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53712" y="3602736"/>
            <a:ext cx="566928" cy="0"/>
          </a:xfrm>
          <a:prstGeom prst="line">
            <a:avLst/>
          </a:prstGeom>
          <a:noFill/>
          <a:ln w="20320">
            <a:solidFill>
              <a:srgbClr val="24548E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4645152" y="3538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54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82312" y="3538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54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19472" y="3538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54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056632" y="3538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548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44568" y="372160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时间注意力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5989320" y="1700784"/>
            <a:ext cx="393192" cy="1060704"/>
          </a:xfrm>
          <a:prstGeom prst="line">
            <a:avLst/>
          </a:prstGeom>
          <a:noFill/>
          <a:ln w="1524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989320" y="2660904"/>
            <a:ext cx="393192" cy="100584"/>
          </a:xfrm>
          <a:prstGeom prst="line">
            <a:avLst/>
          </a:prstGeom>
          <a:noFill/>
          <a:ln w="1524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5989320" y="3621024"/>
            <a:ext cx="393192" cy="-859536"/>
          </a:xfrm>
          <a:prstGeom prst="line">
            <a:avLst/>
          </a:prstGeom>
          <a:noFill/>
          <a:ln w="1524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6419088" y="2286000"/>
            <a:ext cx="1444752" cy="950976"/>
          </a:xfrm>
          <a:prstGeom prst="roundRect">
            <a:avLst>
              <a:gd name="adj" fmla="val 7692"/>
            </a:avLst>
          </a:prstGeom>
          <a:solidFill>
            <a:srgbClr val="F6ECD8"/>
          </a:solidFill>
          <a:ln w="15240">
            <a:solidFill>
              <a:srgbClr val="A1702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67728" y="2441448"/>
            <a:ext cx="292608" cy="-64008"/>
          </a:xfrm>
          <a:prstGeom prst="line">
            <a:avLst/>
          </a:prstGeom>
          <a:noFill/>
          <a:ln w="12700">
            <a:solidFill>
              <a:srgbClr val="A1702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260336" y="2377440"/>
            <a:ext cx="-91440" cy="338328"/>
          </a:xfrm>
          <a:prstGeom prst="line">
            <a:avLst/>
          </a:prstGeom>
          <a:noFill/>
          <a:ln w="12700">
            <a:solidFill>
              <a:srgbClr val="A1702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68896" y="2715768"/>
            <a:ext cx="-256032" cy="-54864"/>
          </a:xfrm>
          <a:prstGeom prst="line">
            <a:avLst/>
          </a:prstGeom>
          <a:noFill/>
          <a:ln w="12700">
            <a:solidFill>
              <a:srgbClr val="A1702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12864" y="2660904"/>
            <a:ext cx="54864" cy="-219456"/>
          </a:xfrm>
          <a:prstGeom prst="line">
            <a:avLst/>
          </a:prstGeom>
          <a:noFill/>
          <a:ln w="12700">
            <a:solidFill>
              <a:srgbClr val="A1702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67728" y="2441448"/>
            <a:ext cx="201168" cy="274320"/>
          </a:xfrm>
          <a:prstGeom prst="line">
            <a:avLst/>
          </a:prstGeom>
          <a:noFill/>
          <a:ln w="12700">
            <a:solidFill>
              <a:srgbClr val="A1702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31152" y="240487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1702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23760" y="2340864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1702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679192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1702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76288" y="2624328"/>
            <a:ext cx="91440" cy="914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1702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83680" y="28437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模态门控</a:t>
            </a:r>
            <a:endParaRPr lang="en-US" sz="940" dirty="0"/>
          </a:p>
        </p:txBody>
      </p:sp>
      <p:sp>
        <p:nvSpPr>
          <p:cNvPr id="101" name="Text 99"/>
          <p:cNvSpPr/>
          <p:nvPr/>
        </p:nvSpPr>
        <p:spPr>
          <a:xfrm>
            <a:off x="6537960" y="308152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样本级可靠性</a:t>
            </a:r>
            <a:endParaRPr lang="en-US" sz="710" dirty="0"/>
          </a:p>
        </p:txBody>
      </p:sp>
      <p:sp>
        <p:nvSpPr>
          <p:cNvPr id="102" name="Shape 100"/>
          <p:cNvSpPr/>
          <p:nvPr/>
        </p:nvSpPr>
        <p:spPr>
          <a:xfrm>
            <a:off x="7909560" y="2761488"/>
            <a:ext cx="356616" cy="0"/>
          </a:xfrm>
          <a:prstGeom prst="line">
            <a:avLst/>
          </a:prstGeom>
          <a:noFill/>
          <a:ln w="1905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8302752" y="2286000"/>
            <a:ext cx="1426464" cy="950976"/>
          </a:xfrm>
          <a:prstGeom prst="roundRect">
            <a:avLst>
              <a:gd name="adj" fmla="val 7692"/>
            </a:avLst>
          </a:prstGeom>
          <a:solidFill>
            <a:srgbClr val="EAE3F3"/>
          </a:solidFill>
          <a:ln w="15240">
            <a:solidFill>
              <a:srgbClr val="69509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87968" y="2651760"/>
            <a:ext cx="64008" cy="146304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97696" y="2532888"/>
            <a:ext cx="64008" cy="265176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07424" y="2404872"/>
            <a:ext cx="64008" cy="393192"/>
          </a:xfrm>
          <a:prstGeom prst="rect">
            <a:avLst/>
          </a:prstGeom>
          <a:solidFill>
            <a:srgbClr val="69509A"/>
          </a:solidFill>
          <a:ln w="12700">
            <a:solidFill>
              <a:srgbClr val="69509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887968" y="2816352"/>
            <a:ext cx="310896" cy="0"/>
          </a:xfrm>
          <a:prstGeom prst="line">
            <a:avLst/>
          </a:prstGeom>
          <a:noFill/>
          <a:ln w="12700">
            <a:solidFill>
              <a:srgbClr val="69509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58200" y="284378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特征融合</a:t>
            </a:r>
            <a:endParaRPr lang="en-US" sz="940" dirty="0"/>
          </a:p>
        </p:txBody>
      </p:sp>
      <p:sp>
        <p:nvSpPr>
          <p:cNvPr id="109" name="Text 107"/>
          <p:cNvSpPr/>
          <p:nvPr/>
        </p:nvSpPr>
        <p:spPr>
          <a:xfrm>
            <a:off x="8430768" y="30815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归一化与非线性变换</a:t>
            </a:r>
            <a:endParaRPr lang="en-US" sz="710" dirty="0"/>
          </a:p>
        </p:txBody>
      </p:sp>
      <p:sp>
        <p:nvSpPr>
          <p:cNvPr id="110" name="Shape 108"/>
          <p:cNvSpPr/>
          <p:nvPr/>
        </p:nvSpPr>
        <p:spPr>
          <a:xfrm>
            <a:off x="9784080" y="2761488"/>
            <a:ext cx="292608" cy="0"/>
          </a:xfrm>
          <a:prstGeom prst="line">
            <a:avLst/>
          </a:prstGeom>
          <a:noFill/>
          <a:ln w="1905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0113264" y="1645920"/>
            <a:ext cx="1517904" cy="969264"/>
          </a:xfrm>
          <a:prstGeom prst="roundRect">
            <a:avLst>
              <a:gd name="adj" fmla="val 7547"/>
            </a:avLst>
          </a:prstGeom>
          <a:solidFill>
            <a:srgbClr val="DFEAF3"/>
          </a:solidFill>
          <a:ln w="15240">
            <a:solidFill>
              <a:srgbClr val="24548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314432" y="2322576"/>
            <a:ext cx="530352" cy="0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314432" y="2322576"/>
            <a:ext cx="0" cy="-475488"/>
          </a:xfrm>
          <a:prstGeom prst="line">
            <a:avLst/>
          </a:prstGeom>
          <a:noFill/>
          <a:ln w="12700">
            <a:solidFill>
              <a:srgbClr val="24548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87584" y="2203704"/>
            <a:ext cx="109728" cy="-109728"/>
          </a:xfrm>
          <a:prstGeom prst="line">
            <a:avLst/>
          </a:prstGeom>
          <a:noFill/>
          <a:ln w="25400">
            <a:solidFill>
              <a:srgbClr val="24548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97312" y="2093976"/>
            <a:ext cx="128016" cy="54864"/>
          </a:xfrm>
          <a:prstGeom prst="line">
            <a:avLst/>
          </a:prstGeom>
          <a:noFill/>
          <a:ln w="25400">
            <a:solidFill>
              <a:srgbClr val="24548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625328" y="2148840"/>
            <a:ext cx="128016" cy="-201168"/>
          </a:xfrm>
          <a:prstGeom prst="line">
            <a:avLst/>
          </a:prstGeom>
          <a:noFill/>
          <a:ln w="25400">
            <a:solidFill>
              <a:srgbClr val="24548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890504" y="1847088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情感极性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10890504" y="2093976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三类别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10113264" y="2907792"/>
            <a:ext cx="1517904" cy="969264"/>
          </a:xfrm>
          <a:prstGeom prst="roundRect">
            <a:avLst>
              <a:gd name="adj" fmla="val 7547"/>
            </a:avLst>
          </a:prstGeom>
          <a:solidFill>
            <a:srgbClr val="F7E6DF"/>
          </a:solidFill>
          <a:ln w="15240">
            <a:solidFill>
              <a:srgbClr val="BA533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314432" y="3584448"/>
            <a:ext cx="530352" cy="0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314432" y="3584448"/>
            <a:ext cx="0" cy="-475488"/>
          </a:xfrm>
          <a:prstGeom prst="line">
            <a:avLst/>
          </a:prstGeom>
          <a:noFill/>
          <a:ln w="12700">
            <a:solidFill>
              <a:srgbClr val="BA533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387584" y="3465576"/>
            <a:ext cx="109728" cy="-10972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497312" y="3355848"/>
            <a:ext cx="128016" cy="54864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25328" y="3410712"/>
            <a:ext cx="128016" cy="-201168"/>
          </a:xfrm>
          <a:prstGeom prst="line">
            <a:avLst/>
          </a:prstGeom>
          <a:noFill/>
          <a:ln w="25400">
            <a:solidFill>
              <a:srgbClr val="BA533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890504" y="3108960"/>
            <a:ext cx="612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情感强度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10890504" y="3355848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05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连续数值</a:t>
            </a:r>
            <a:endParaRPr lang="en-US" sz="780" dirty="0"/>
          </a:p>
        </p:txBody>
      </p:sp>
      <p:sp>
        <p:nvSpPr>
          <p:cNvPr id="127" name="Shape 125"/>
          <p:cNvSpPr/>
          <p:nvPr/>
        </p:nvSpPr>
        <p:spPr>
          <a:xfrm>
            <a:off x="9784080" y="2761488"/>
            <a:ext cx="292608" cy="-630936"/>
          </a:xfrm>
          <a:prstGeom prst="line">
            <a:avLst/>
          </a:prstGeom>
          <a:noFill/>
          <a:ln w="1524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9784080" y="2761488"/>
            <a:ext cx="292608" cy="621792"/>
          </a:xfrm>
          <a:prstGeom prst="line">
            <a:avLst/>
          </a:prstGeom>
          <a:noFill/>
          <a:ln w="15240">
            <a:solidFill>
              <a:srgbClr val="505D70"/>
            </a:solidFill>
            <a:prstDash val="solid"/>
            <a:headEnd type="none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2240280" y="466344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2F5F8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96312" y="4764024"/>
            <a:ext cx="457200" cy="512064"/>
          </a:xfrm>
          <a:prstGeom prst="hexagon">
            <a:avLst/>
          </a:prstGeom>
          <a:solidFill>
            <a:srgbClr val="FFFFFF"/>
          </a:solidFill>
          <a:ln w="16510">
            <a:solidFill>
              <a:srgbClr val="24548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15184" y="5020056"/>
            <a:ext cx="91440" cy="91440"/>
          </a:xfrm>
          <a:prstGeom prst="line">
            <a:avLst/>
          </a:prstGeom>
          <a:noFill/>
          <a:ln w="22860">
            <a:solidFill>
              <a:srgbClr val="24548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06624" y="5111496"/>
            <a:ext cx="155448" cy="-182880"/>
          </a:xfrm>
          <a:prstGeom prst="line">
            <a:avLst/>
          </a:prstGeom>
          <a:noFill/>
          <a:ln w="22860">
            <a:solidFill>
              <a:srgbClr val="24548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072384" y="4754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54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缺失窗口掩码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4617720" y="4754880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4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缺失值归零 + 显式有效位置 + 注意力分母掩码</a:t>
            </a:r>
            <a:endParaRPr lang="en-US" sz="920" dirty="0"/>
          </a:p>
        </p:txBody>
      </p:sp>
      <p:sp>
        <p:nvSpPr>
          <p:cNvPr id="135" name="Text 133"/>
          <p:cNvSpPr/>
          <p:nvPr/>
        </p:nvSpPr>
        <p:spPr>
          <a:xfrm>
            <a:off x="1280160" y="570585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A5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解释输出：模态消融 · 注意力排序 · 局部窗口遮挡 · 关键帧追踪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05D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Research modeling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timeline and hierarchical fusion diagrams</dc:title>
  <dc:subject>Auditable multimodal emotion recognition diagrams</dc:subject>
  <dc:creator>Multimodal Emotion Recognition Paper</dc:creator>
  <cp:lastModifiedBy>Multimodal Emotion Recognition Paper</cp:lastModifiedBy>
  <cp:revision>1</cp:revision>
  <dcterms:created xsi:type="dcterms:W3CDTF">2026-09-24T17:18:41Z</dcterms:created>
  <dcterms:modified xsi:type="dcterms:W3CDTF">2026-09-24T17:18:41Z</dcterms:modified>
</cp:coreProperties>
</file>