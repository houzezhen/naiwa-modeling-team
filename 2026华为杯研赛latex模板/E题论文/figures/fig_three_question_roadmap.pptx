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7498080"/>
  <p:notesSz cx="749808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411480"/>
            <a:ext cx="8686800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255C8E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402336" y="61264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393192" y="10515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原始数据与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时间对齐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1353312" y="841248"/>
            <a:ext cx="1581912" cy="1024128"/>
          </a:xfrm>
          <a:prstGeom prst="rect">
            <a:avLst/>
          </a:prstGeom>
          <a:solidFill>
            <a:srgbClr val="EEF4F9"/>
          </a:solidFill>
          <a:ln w="10160">
            <a:solidFill>
              <a:srgbClr val="255C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6464" y="96012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附件1原始视频</a:t>
            </a:r>
            <a:endParaRPr lang="en-US" sz="1330" dirty="0"/>
          </a:p>
        </p:txBody>
      </p:sp>
      <p:sp>
        <p:nvSpPr>
          <p:cNvPr id="7" name="Text 5"/>
          <p:cNvSpPr/>
          <p:nvPr/>
        </p:nvSpPr>
        <p:spPr>
          <a:xfrm>
            <a:off x="1426464" y="1316736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100条视频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转写与标注</a:t>
            </a:r>
            <a:endParaRPr lang="en-US" sz="1090" dirty="0"/>
          </a:p>
        </p:txBody>
      </p:sp>
      <p:sp>
        <p:nvSpPr>
          <p:cNvPr id="8" name="Shape 6"/>
          <p:cNvSpPr/>
          <p:nvPr/>
        </p:nvSpPr>
        <p:spPr>
          <a:xfrm>
            <a:off x="3264408" y="841248"/>
            <a:ext cx="1581912" cy="1024128"/>
          </a:xfrm>
          <a:prstGeom prst="rect">
            <a:avLst/>
          </a:prstGeom>
          <a:solidFill>
            <a:srgbClr val="EEF4F9"/>
          </a:solidFill>
          <a:ln w="10160">
            <a:solidFill>
              <a:srgbClr val="255C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6012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三模态特征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3337560" y="1316736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 · 语音 · 视觉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保留样本ID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5175504" y="841248"/>
            <a:ext cx="1581912" cy="1024128"/>
          </a:xfrm>
          <a:prstGeom prst="rect">
            <a:avLst/>
          </a:prstGeom>
          <a:solidFill>
            <a:srgbClr val="EEF4F9"/>
          </a:solidFill>
          <a:ln w="10160">
            <a:solidFill>
              <a:srgbClr val="255C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8656" y="96012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公共时间轴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5248656" y="1316736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50个时间窗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显式有效掩码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7086600" y="841248"/>
            <a:ext cx="1581912" cy="1024128"/>
          </a:xfrm>
          <a:prstGeom prst="rect">
            <a:avLst/>
          </a:prstGeom>
          <a:solidFill>
            <a:srgbClr val="EEF4F9"/>
          </a:solidFill>
          <a:ln w="10160">
            <a:solidFill>
              <a:srgbClr val="255C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9752" y="960120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质量核验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7159752" y="1316736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· 边界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原始片段回看</a:t>
            </a:r>
            <a:endParaRPr lang="en-US" sz="1090" dirty="0"/>
          </a:p>
        </p:txBody>
      </p:sp>
      <p:sp>
        <p:nvSpPr>
          <p:cNvPr id="17" name="Shape 15"/>
          <p:cNvSpPr/>
          <p:nvPr/>
        </p:nvSpPr>
        <p:spPr>
          <a:xfrm>
            <a:off x="2971800" y="1353312"/>
            <a:ext cx="219456" cy="0"/>
          </a:xfrm>
          <a:prstGeom prst="line">
            <a:avLst/>
          </a:prstGeom>
          <a:noFill/>
          <a:ln w="18415">
            <a:solidFill>
              <a:srgbClr val="255C8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882896" y="1353312"/>
            <a:ext cx="219456" cy="0"/>
          </a:xfrm>
          <a:prstGeom prst="line">
            <a:avLst/>
          </a:prstGeom>
          <a:noFill/>
          <a:ln w="18415">
            <a:solidFill>
              <a:srgbClr val="255C8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93992" y="1353312"/>
            <a:ext cx="219456" cy="0"/>
          </a:xfrm>
          <a:prstGeom prst="line">
            <a:avLst/>
          </a:prstGeom>
          <a:noFill/>
          <a:ln w="18415">
            <a:solidFill>
              <a:srgbClr val="255C8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2761488"/>
            <a:ext cx="8686800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087C7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02336" y="29626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93192" y="34015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缺失条件下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鲁棒预测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353312" y="3191256"/>
            <a:ext cx="1581912" cy="1024128"/>
          </a:xfrm>
          <a:prstGeom prst="rect">
            <a:avLst/>
          </a:prstGeom>
          <a:solidFill>
            <a:srgbClr val="EAF5F1"/>
          </a:solidFill>
          <a:ln w="10160">
            <a:solidFill>
              <a:srgbClr val="087C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26464" y="331012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附件2特征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1426464" y="366674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 / 验证 / 测试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统一特征版本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3264408" y="3191256"/>
            <a:ext cx="1581912" cy="1024128"/>
          </a:xfrm>
          <a:prstGeom prst="rect">
            <a:avLst/>
          </a:prstGeom>
          <a:solidFill>
            <a:srgbClr val="EAF5F1"/>
          </a:solidFill>
          <a:ln w="10160">
            <a:solidFill>
              <a:srgbClr val="087C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31012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掩码归一化</a:t>
            </a:r>
            <a:endParaRPr lang="en-US" sz="1330" dirty="0"/>
          </a:p>
        </p:txBody>
      </p:sp>
      <p:sp>
        <p:nvSpPr>
          <p:cNvPr id="28" name="Text 26"/>
          <p:cNvSpPr/>
          <p:nvPr/>
        </p:nvSpPr>
        <p:spPr>
          <a:xfrm>
            <a:off x="3337560" y="366674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只用训练集统计量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保留缺失位置</a:t>
            </a:r>
            <a:endParaRPr lang="en-US" sz="1090" dirty="0"/>
          </a:p>
        </p:txBody>
      </p:sp>
      <p:sp>
        <p:nvSpPr>
          <p:cNvPr id="29" name="Shape 27"/>
          <p:cNvSpPr/>
          <p:nvPr/>
        </p:nvSpPr>
        <p:spPr>
          <a:xfrm>
            <a:off x="5175504" y="3191256"/>
            <a:ext cx="1581912" cy="1024128"/>
          </a:xfrm>
          <a:prstGeom prst="rect">
            <a:avLst/>
          </a:prstGeom>
          <a:solidFill>
            <a:srgbClr val="EAF5F1"/>
          </a:solidFill>
          <a:ln w="10160">
            <a:solidFill>
              <a:srgbClr val="087C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331012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时序融合</a:t>
            </a:r>
            <a:endParaRPr lang="en-US" sz="1330" dirty="0"/>
          </a:p>
        </p:txBody>
      </p:sp>
      <p:sp>
        <p:nvSpPr>
          <p:cNvPr id="31" name="Text 29"/>
          <p:cNvSpPr/>
          <p:nvPr/>
        </p:nvSpPr>
        <p:spPr>
          <a:xfrm>
            <a:off x="5248656" y="366674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双向GRU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时间注意力 · 门控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7086600" y="3191256"/>
            <a:ext cx="1581912" cy="1024128"/>
          </a:xfrm>
          <a:prstGeom prst="rect">
            <a:avLst/>
          </a:prstGeom>
          <a:solidFill>
            <a:srgbClr val="EAF5F1"/>
          </a:solidFill>
          <a:ln w="10160">
            <a:solidFill>
              <a:srgbClr val="087C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59752" y="3310128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预测与检验</a:t>
            </a:r>
            <a:endParaRPr lang="en-US" sz="1330" dirty="0"/>
          </a:p>
        </p:txBody>
      </p:sp>
      <p:sp>
        <p:nvSpPr>
          <p:cNvPr id="34" name="Text 32"/>
          <p:cNvSpPr/>
          <p:nvPr/>
        </p:nvSpPr>
        <p:spPr>
          <a:xfrm>
            <a:off x="7159752" y="3666744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极性 + 强度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遮挡实验 · 附件3</a:t>
            </a:r>
            <a:endParaRPr lang="en-US" sz="1090" dirty="0"/>
          </a:p>
        </p:txBody>
      </p:sp>
      <p:sp>
        <p:nvSpPr>
          <p:cNvPr id="35" name="Shape 33"/>
          <p:cNvSpPr/>
          <p:nvPr/>
        </p:nvSpPr>
        <p:spPr>
          <a:xfrm>
            <a:off x="2971800" y="3703320"/>
            <a:ext cx="219456" cy="0"/>
          </a:xfrm>
          <a:prstGeom prst="line">
            <a:avLst/>
          </a:prstGeom>
          <a:noFill/>
          <a:ln w="18415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882896" y="3703320"/>
            <a:ext cx="219456" cy="0"/>
          </a:xfrm>
          <a:prstGeom prst="line">
            <a:avLst/>
          </a:prstGeom>
          <a:noFill/>
          <a:ln w="18415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793992" y="3703320"/>
            <a:ext cx="219456" cy="0"/>
          </a:xfrm>
          <a:prstGeom prst="line">
            <a:avLst/>
          </a:prstGeom>
          <a:noFill/>
          <a:ln w="18415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8600" y="5102352"/>
            <a:ext cx="8686800" cy="1901952"/>
          </a:xfrm>
          <a:prstGeom prst="rect">
            <a:avLst/>
          </a:prstGeom>
          <a:solidFill>
            <a:srgbClr val="FFFFFF">
              <a:alpha val="0"/>
            </a:srgbClr>
          </a:solidFill>
          <a:ln w="13335">
            <a:solidFill>
              <a:srgbClr val="AD5835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02336" y="5303520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问题三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393192" y="57424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模型解释与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证据追踪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1353312" y="5532120"/>
            <a:ext cx="1581912" cy="1024128"/>
          </a:xfrm>
          <a:prstGeom prst="rect">
            <a:avLst/>
          </a:prstGeom>
          <a:solidFill>
            <a:srgbClr val="FCF1EA"/>
          </a:solidFill>
          <a:ln w="10160">
            <a:solidFill>
              <a:srgbClr val="AD58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26464" y="5650992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附件4样本</a:t>
            </a:r>
            <a:endParaRPr lang="en-US" sz="1330" dirty="0"/>
          </a:p>
        </p:txBody>
      </p:sp>
      <p:sp>
        <p:nvSpPr>
          <p:cNvPr id="43" name="Text 41"/>
          <p:cNvSpPr/>
          <p:nvPr/>
        </p:nvSpPr>
        <p:spPr>
          <a:xfrm>
            <a:off x="1426464" y="600760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无标签特征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配套原始视频</a:t>
            </a:r>
            <a:endParaRPr lang="en-US" sz="1090" dirty="0"/>
          </a:p>
        </p:txBody>
      </p:sp>
      <p:sp>
        <p:nvSpPr>
          <p:cNvPr id="44" name="Shape 42"/>
          <p:cNvSpPr/>
          <p:nvPr/>
        </p:nvSpPr>
        <p:spPr>
          <a:xfrm>
            <a:off x="3264408" y="5532120"/>
            <a:ext cx="1581912" cy="1024128"/>
          </a:xfrm>
          <a:prstGeom prst="rect">
            <a:avLst/>
          </a:prstGeom>
          <a:solidFill>
            <a:srgbClr val="FCF1EA"/>
          </a:solidFill>
          <a:ln w="10160">
            <a:solidFill>
              <a:srgbClr val="AD58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5650992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统一主模型</a:t>
            </a:r>
            <a:endParaRPr lang="en-US" sz="1330" dirty="0"/>
          </a:p>
        </p:txBody>
      </p:sp>
      <p:sp>
        <p:nvSpPr>
          <p:cNvPr id="46" name="Text 44"/>
          <p:cNvSpPr/>
          <p:nvPr/>
        </p:nvSpPr>
        <p:spPr>
          <a:xfrm>
            <a:off x="3337560" y="600760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复用附件2选定模型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输出极性与强度</a:t>
            </a:r>
            <a:endParaRPr lang="en-US" sz="1090" dirty="0"/>
          </a:p>
        </p:txBody>
      </p:sp>
      <p:sp>
        <p:nvSpPr>
          <p:cNvPr id="47" name="Shape 45"/>
          <p:cNvSpPr/>
          <p:nvPr/>
        </p:nvSpPr>
        <p:spPr>
          <a:xfrm>
            <a:off x="5175504" y="5532120"/>
            <a:ext cx="1581912" cy="1024128"/>
          </a:xfrm>
          <a:prstGeom prst="rect">
            <a:avLst/>
          </a:prstGeom>
          <a:solidFill>
            <a:srgbClr val="FCF1EA"/>
          </a:solidFill>
          <a:ln w="10160">
            <a:solidFill>
              <a:srgbClr val="AD58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48656" y="5650992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作用量化</a:t>
            </a:r>
            <a:endParaRPr lang="en-US" sz="1330" dirty="0"/>
          </a:p>
        </p:txBody>
      </p:sp>
      <p:sp>
        <p:nvSpPr>
          <p:cNvPr id="49" name="Text 47"/>
          <p:cNvSpPr/>
          <p:nvPr/>
        </p:nvSpPr>
        <p:spPr>
          <a:xfrm>
            <a:off x="5248656" y="600760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模态消融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时间窗遮挡</a:t>
            </a:r>
            <a:endParaRPr lang="en-US" sz="1090" dirty="0"/>
          </a:p>
        </p:txBody>
      </p:sp>
      <p:sp>
        <p:nvSpPr>
          <p:cNvPr id="50" name="Shape 48"/>
          <p:cNvSpPr/>
          <p:nvPr/>
        </p:nvSpPr>
        <p:spPr>
          <a:xfrm>
            <a:off x="7086600" y="5532120"/>
            <a:ext cx="1581912" cy="1024128"/>
          </a:xfrm>
          <a:prstGeom prst="rect">
            <a:avLst/>
          </a:prstGeom>
          <a:solidFill>
            <a:srgbClr val="FCF1EA"/>
          </a:solidFill>
          <a:ln w="10160">
            <a:solidFill>
              <a:srgbClr val="AD58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5650992"/>
            <a:ext cx="143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AD58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证据定位</a:t>
            </a:r>
            <a:endParaRPr lang="en-US" sz="1330" dirty="0"/>
          </a:p>
        </p:txBody>
      </p:sp>
      <p:sp>
        <p:nvSpPr>
          <p:cNvPr id="52" name="Text 50"/>
          <p:cNvSpPr/>
          <p:nvPr/>
        </p:nvSpPr>
        <p:spPr>
          <a:xfrm>
            <a:off x="7159752" y="6007608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主要模态 · 时间段</a:t>
            </a:r>
            <a:endParaRPr lang="en-US" sz="1090" dirty="0"/>
          </a:p>
          <a:p>
            <a:pPr algn="ctr" indent="0" marL="0">
              <a:buNone/>
            </a:pPr>
            <a:r>
              <a:rPr lang="en-US" sz="1090" dirty="0">
                <a:solidFill>
                  <a:srgbClr val="203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文本/语音/关键帧</a:t>
            </a:r>
            <a:endParaRPr lang="en-US" sz="1090" dirty="0"/>
          </a:p>
        </p:txBody>
      </p:sp>
      <p:sp>
        <p:nvSpPr>
          <p:cNvPr id="53" name="Shape 51"/>
          <p:cNvSpPr/>
          <p:nvPr/>
        </p:nvSpPr>
        <p:spPr>
          <a:xfrm>
            <a:off x="2971800" y="6044184"/>
            <a:ext cx="219456" cy="0"/>
          </a:xfrm>
          <a:prstGeom prst="line">
            <a:avLst/>
          </a:prstGeom>
          <a:noFill/>
          <a:ln w="18415">
            <a:solidFill>
              <a:srgbClr val="AD5835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882896" y="6044184"/>
            <a:ext cx="219456" cy="0"/>
          </a:xfrm>
          <a:prstGeom prst="line">
            <a:avLst/>
          </a:prstGeom>
          <a:noFill/>
          <a:ln w="18415">
            <a:solidFill>
              <a:srgbClr val="AD5835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793992" y="6044184"/>
            <a:ext cx="219456" cy="0"/>
          </a:xfrm>
          <a:prstGeom prst="line">
            <a:avLst/>
          </a:prstGeom>
          <a:noFill/>
          <a:ln w="18415">
            <a:solidFill>
              <a:srgbClr val="AD5835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971032" y="2322576"/>
            <a:ext cx="0" cy="374904"/>
          </a:xfrm>
          <a:prstGeom prst="line">
            <a:avLst/>
          </a:prstGeom>
          <a:noFill/>
          <a:ln w="17780">
            <a:solidFill>
              <a:srgbClr val="255C8E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135624" y="240487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5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对齐与掩码规则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4050792" y="4672584"/>
            <a:ext cx="0" cy="374904"/>
          </a:xfrm>
          <a:prstGeom prst="line">
            <a:avLst/>
          </a:prstGeom>
          <a:noFill/>
          <a:ln w="17780">
            <a:solidFill>
              <a:srgbClr val="087C70"/>
            </a:solidFill>
            <a:prstDash val="solid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4224528" y="4754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087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主模型与输入接口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329184" y="7187184"/>
            <a:ext cx="8476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90" dirty="0">
                <a:solidFill>
                  <a:srgbClr val="5260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附件1与附件2是不同样本集合；附件3、附件4只用于专项推理。</a:t>
            </a:r>
            <a:endParaRPr lang="en-US" sz="9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三个问题的建模流程及数据关系</dc:title>
  <dc:subject>Three-problem multimodal emotion modeling roadmap</dc:subject>
  <dc:creator>Math Modeling Team</dc:creator>
  <cp:lastModifiedBy>Math Modeling Team</cp:lastModifiedBy>
  <cp:revision>1</cp:revision>
  <dcterms:created xsi:type="dcterms:W3CDTF">2026-09-25T05:47:48Z</dcterms:created>
  <dcterms:modified xsi:type="dcterms:W3CDTF">2026-09-25T05:47:48Z</dcterms:modified>
</cp:coreProperties>
</file>